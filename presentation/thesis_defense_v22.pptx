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dPt>
            <c:idx val="0"/>
            <c:bubble3D val="0"/>
            <c:spPr>
              <a:solidFill>
                <a:srgbClr val="9FB3C8"/>
              </a:solidFill>
            </c:spPr>
            <c:extLst>
              <c:ext xmlns:c16="http://schemas.microsoft.com/office/drawing/2014/chart" uri="{C3380CC4-5D6E-409C-BE32-E72D297353CC}">
                <c16:uniqueId val="{00000001-4EB2-4B36-A63C-3E9D7454592E}"/>
              </c:ext>
            </c:extLst>
          </c:dPt>
          <c:dPt>
            <c:idx val="1"/>
            <c:bubble3D val="0"/>
            <c:spPr>
              <a:solidFill>
                <a:srgbClr val="44688E"/>
              </a:solidFill>
            </c:spPr>
            <c:extLst>
              <c:ext xmlns:c16="http://schemas.microsoft.com/office/drawing/2014/chart" uri="{C3380CC4-5D6E-409C-BE32-E72D297353CC}">
                <c16:uniqueId val="{00000003-4EB2-4B36-A63C-3E9D7454592E}"/>
              </c:ext>
            </c:extLst>
          </c:dPt>
          <c:dPt>
            <c:idx val="2"/>
            <c:bubble3D val="0"/>
            <c:spPr>
              <a:solidFill>
                <a:srgbClr val="1B3A6B"/>
              </a:solidFill>
            </c:spPr>
            <c:extLst>
              <c:ext xmlns:c16="http://schemas.microsoft.com/office/drawing/2014/chart" uri="{C3380CC4-5D6E-409C-BE32-E72D297353CC}">
                <c16:uniqueId val="{00000005-4EB2-4B36-A63C-3E9D7454592E}"/>
              </c:ext>
            </c:extLst>
          </c:dPt>
          <c:dPt>
            <c:idx val="3"/>
            <c:bubble3D val="0"/>
            <c:spPr>
              <a:solidFill>
                <a:srgbClr val="B8924A"/>
              </a:solidFill>
            </c:spPr>
            <c:extLst>
              <c:ext xmlns:c16="http://schemas.microsoft.com/office/drawing/2014/chart" uri="{C3380CC4-5D6E-409C-BE32-E72D297353CC}">
                <c16:uniqueId val="{00000007-4EB2-4B36-A63C-3E9D7454592E}"/>
              </c:ext>
            </c:extLst>
          </c:dPt>
          <c:cat>
            <c:strRef>
              <c:f>Sheet1!$A$2:$A$5</c:f>
              <c:strCache>
                <c:ptCount val="4"/>
                <c:pt idx="0">
                  <c:v>Calm 30.7%</c:v>
                </c:pt>
                <c:pt idx="1">
                  <c:v>Normal 27.5%</c:v>
                </c:pt>
                <c:pt idx="2">
                  <c:v>Stressed 31.8%</c:v>
                </c:pt>
                <c:pt idx="3">
                  <c:v>Crisis 10.1%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3117</c:v>
                </c:pt>
                <c:pt idx="1">
                  <c:v>2790</c:v>
                </c:pt>
                <c:pt idx="2">
                  <c:v>3227</c:v>
                </c:pt>
                <c:pt idx="3">
                  <c:v>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B2-4B36-A63C-3E9D74545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20624"/>
            <a:ext cx="1097280" cy="201168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19656" y="402336"/>
            <a:ext cx="10058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MASTER'S THESIS DEFENSE  |  EN 593  |  DUAL DEGREE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Forecasting WTI Crude Oil Prices
using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18688"/>
            <a:ext cx="9144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0E5C8"/>
                </a:solidFill>
                <a:latin typeface="Calibri"/>
              </a:rPr>
              <a:t>A Multi-Horizon Framework with Rigorous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3767328"/>
            <a:ext cx="11002975" cy="0"/>
          </a:xfrm>
          <a:prstGeom prst="line">
            <a:avLst/>
          </a:prstGeom>
          <a:ln w="1524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3913632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Aayush M Anand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79392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C8"/>
                </a:solidFill>
                <a:latin typeface="Calibri"/>
              </a:rPr>
              <a:t>Roll No. 21D170001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858768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E5C8"/>
                </a:solidFill>
                <a:latin typeface="Calibri"/>
              </a:rPr>
              <a:t>Guide: Prof. Lalit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169663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C8"/>
                </a:solidFill>
                <a:latin typeface="Calibri"/>
              </a:rPr>
              <a:t>EN 593  |  Dual Degree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43984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C8"/>
                </a:solidFill>
                <a:latin typeface="Calibri"/>
              </a:rPr>
              <a:t>Dept. of Energy Science and Engineering, IIT Bombay  |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1575" y="6547104"/>
            <a:ext cx="365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Why Crude Oil Price Forecasting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WTI is the global benchmark; errors at every horizon carry real economic consequences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200">
                <a:solidFill>
                  <a:srgbClr val="B8924A"/>
                </a:solidFill>
                <a:latin typeface="Calibri"/>
              </a:rPr>
              <a:t>▪  </a:t>
            </a:r>
            <a:r>
              <a:rPr sz="1300">
                <a:solidFill>
                  <a:srgbClr val="1A1A2E"/>
                </a:solidFill>
                <a:latin typeface="Calibri"/>
              </a:rPr>
              <a:t>Series is heavy-tailed (daily kurtosis 7-12 vs Gaussian 3) and punctuated by four major crisis episodes: GFC, OPEC glut, COVID, 2022 disruption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B8924A"/>
                </a:solidFill>
                <a:latin typeface="Calibri"/>
              </a:rPr>
              <a:t>▪  </a:t>
            </a:r>
            <a:r>
              <a:rPr sz="1300">
                <a:solidFill>
                  <a:srgbClr val="1A1A2E"/>
                </a:solidFill>
                <a:latin typeface="Calibri"/>
              </a:rPr>
              <a:t>Every $1/barrel forecast error at 90 days drives procurement, hedging, and capital planning overruns for refiners and oil-importing economies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B8924A"/>
                </a:solidFill>
                <a:latin typeface="Calibri"/>
              </a:rPr>
              <a:t>▪  </a:t>
            </a:r>
            <a:r>
              <a:rPr sz="1300">
                <a:solidFill>
                  <a:srgbClr val="1A1A2E"/>
                </a:solidFill>
                <a:latin typeface="Calibri"/>
              </a:rPr>
              <a:t>Published models overstate real performance; no prior study evaluated against a naive benchmark under a strict walk-forward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718304"/>
            <a:ext cx="1371600" cy="148132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529" y="4828032"/>
            <a:ext cx="1206703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1B3A6B"/>
                </a:solidFill>
                <a:latin typeface="Cambria"/>
              </a:rPr>
              <a:t>7</a:t>
            </a:r>
            <a:r>
              <a:rPr lang="en-IN" sz="2800" b="1" i="0" dirty="0">
                <a:solidFill>
                  <a:srgbClr val="1B3A6B"/>
                </a:solidFill>
                <a:latin typeface="Cambria"/>
              </a:rPr>
              <a:t>-</a:t>
            </a:r>
            <a:r>
              <a:rPr sz="2800" b="1" i="0" dirty="0">
                <a:solidFill>
                  <a:srgbClr val="1B3A6B"/>
                </a:solidFill>
                <a:latin typeface="Cambria"/>
              </a:rPr>
              <a:t>12x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8640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Daily kurtosis vs Gaussian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9112" y="4718304"/>
            <a:ext cx="1371600" cy="148132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03704" y="4828032"/>
            <a:ext cx="1097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8924A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548640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Crisis episodes since 2007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4718304"/>
            <a:ext cx="1371600" cy="148132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4828032"/>
            <a:ext cx="10972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3A6B"/>
                </a:solidFill>
                <a:latin typeface="Cambria"/>
              </a:rPr>
              <a:t>$10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548640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Per bbl adds 0.3-0.5% to inflation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4" y="1755648"/>
            <a:ext cx="6284671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11_full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810512"/>
            <a:ext cx="6174943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Gaps in Earlier Thesis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Eight methodological gaps addressed in this work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11002975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1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 work limitation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This work's fix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 naive benchmark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Naive MAE as skill denominator at every horizon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Normalised metrics without physical meaning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All results in US dollars per barrel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Single chronological split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Expanding walk-forward from 2007; all crises out of sample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One-day horizon only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Four horizons: 1d, 7d, 90d, 180d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Narrow feature set; preprocessing on full series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Up to 69 features; all preprocessing fitted in-sample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Point forecasts only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Calibrated prediction intervals and EVT tail-risk layer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 statistical significance testing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Diebold-Mariano test across all model pairs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Static general-purpose text features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Domain-aware features including CrudeBERT embeddings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Forecasting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End-to-end pipeline from raw price series to calibrated risk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75" y="1755648"/>
            <a:ext cx="1993392" cy="166420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8591" y="1901952"/>
            <a:ext cx="1755648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6B"/>
                </a:solidFill>
                <a:latin typeface="Cambria"/>
              </a:rPr>
              <a:t>WTI Price
1986-2026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015" y="2560320"/>
            <a:ext cx="18288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~10,000 obs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9687" y="2587752"/>
            <a:ext cx="137160" cy="0"/>
          </a:xfrm>
          <a:prstGeom prst="line">
            <a:avLst/>
          </a:prstGeom>
          <a:ln w="2032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648559" y="2523744"/>
            <a:ext cx="146304" cy="128016"/>
          </a:xfrm>
          <a:prstGeom prst="triangle">
            <a:avLst/>
          </a:prstGeom>
          <a:solidFill>
            <a:srgbClr val="3A7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4863" y="1755648"/>
            <a:ext cx="1993392" cy="166420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2879" y="1901952"/>
            <a:ext cx="1755648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6B"/>
                </a:solidFill>
                <a:latin typeface="Cambria"/>
              </a:rPr>
              <a:t>Feature
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6303" y="2560320"/>
            <a:ext cx="18288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Up to 69 features
All preprocessing
in-sample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3975" y="2587752"/>
            <a:ext cx="137160" cy="0"/>
          </a:xfrm>
          <a:prstGeom prst="line">
            <a:avLst/>
          </a:prstGeom>
          <a:ln w="2032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952847" y="2523744"/>
            <a:ext cx="146304" cy="128016"/>
          </a:xfrm>
          <a:prstGeom prst="triangle">
            <a:avLst/>
          </a:prstGeom>
          <a:solidFill>
            <a:srgbClr val="3A7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99151" y="1755648"/>
            <a:ext cx="1993392" cy="166420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7167" y="1901952"/>
            <a:ext cx="1755648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924A"/>
                </a:solidFill>
                <a:latin typeface="Cambria"/>
              </a:rPr>
              <a:t>Two Tracks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0591" y="2560320"/>
            <a:ext cx="18288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0E5C8"/>
                </a:solidFill>
                <a:latin typeface="Calibri"/>
              </a:rPr>
              <a:t>Track A (decomposition)
Track B (walk-forward)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8263" y="2587752"/>
            <a:ext cx="137160" cy="0"/>
          </a:xfrm>
          <a:prstGeom prst="line">
            <a:avLst/>
          </a:prstGeom>
          <a:ln w="2032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257135" y="2523744"/>
            <a:ext cx="146304" cy="128016"/>
          </a:xfrm>
          <a:prstGeom prst="triangle">
            <a:avLst/>
          </a:prstGeom>
          <a:solidFill>
            <a:srgbClr val="3A7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03439" y="1755648"/>
            <a:ext cx="1993392" cy="166420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1455" y="1901952"/>
            <a:ext cx="1755648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6B"/>
                </a:solidFill>
                <a:latin typeface="Cambria"/>
              </a:rPr>
              <a:t>17 Architectures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560320"/>
            <a:ext cx="18288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5 families
Identical evaluation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42551" y="2587752"/>
            <a:ext cx="137160" cy="0"/>
          </a:xfrm>
          <a:prstGeom prst="line">
            <a:avLst/>
          </a:prstGeom>
          <a:ln w="2032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561423" y="2523744"/>
            <a:ext cx="146304" cy="128016"/>
          </a:xfrm>
          <a:prstGeom prst="triangle">
            <a:avLst/>
          </a:prstGeom>
          <a:solidFill>
            <a:srgbClr val="3A7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07727" y="1755648"/>
            <a:ext cx="1993392" cy="1664208"/>
          </a:xfrm>
          <a:prstGeom prst="roundRect">
            <a:avLst>
              <a:gd name="adj" fmla="val 6000"/>
            </a:avLst>
          </a:prstGeom>
          <a:solidFill>
            <a:srgbClr val="3A7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5743" y="1901952"/>
            <a:ext cx="1755648" cy="621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924A"/>
                </a:solidFill>
                <a:latin typeface="Cambria"/>
              </a:rPr>
              <a:t>Probabilistic
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9167" y="2560320"/>
            <a:ext cx="18288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0E5C8"/>
                </a:solidFill>
                <a:latin typeface="Calibri"/>
              </a:rPr>
              <a:t>Conformal + EVT
tail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30752"/>
            <a:ext cx="11002975" cy="257860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931920"/>
            <a:ext cx="330189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mbria"/>
              </a:rPr>
              <a:t>38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00016"/>
            <a:ext cx="3301898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of daily WTI price data, 1986 to 2026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88866" y="4005072"/>
            <a:ext cx="0" cy="1170432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53458" y="3931920"/>
            <a:ext cx="330189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mbria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3458" y="4700016"/>
            <a:ext cx="3301898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neural architectures across 5 families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73644" y="4005072"/>
            <a:ext cx="0" cy="1170432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38236" y="3931920"/>
            <a:ext cx="330189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3A6B"/>
                </a:solidFill>
                <a:latin typeface="Cambria"/>
              </a:rPr>
              <a:t>4 horizons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8236" y="4700016"/>
            <a:ext cx="3301898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1 day  |  7 days  |  90 days  |  180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Dataset and Feature Engineering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40 years of WTI spot prices and up to 69 engineered features across horizon-specific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4480560" cy="202996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84708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Primary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76272"/>
            <a:ext cx="42793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B8924A"/>
                </a:solidFill>
                <a:latin typeface="Calibri"/>
              </a:rPr>
              <a:t>▪  </a:t>
            </a:r>
            <a:r>
              <a:rPr sz="1150">
                <a:solidFill>
                  <a:srgbClr val="1A1A2E"/>
                </a:solidFill>
                <a:latin typeface="Calibri"/>
              </a:rPr>
              <a:t>WTI crude oil spot price (FOB Cushing, OK), 1986 to 2026, from EIA via FRED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B8924A"/>
                </a:solidFill>
                <a:latin typeface="Calibri"/>
              </a:rPr>
              <a:t>▪  </a:t>
            </a:r>
            <a:r>
              <a:rPr sz="1150">
                <a:solidFill>
                  <a:srgbClr val="1A1A2E"/>
                </a:solidFill>
                <a:latin typeface="Calibri"/>
              </a:rPr>
              <a:t>All preprocessing (normalisation, scaling, feature means) fitted on training data only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B8924A"/>
                </a:solidFill>
                <a:latin typeface="Calibri"/>
              </a:rPr>
              <a:t>▪  </a:t>
            </a:r>
            <a:r>
              <a:rPr sz="1150">
                <a:solidFill>
                  <a:srgbClr val="1A1A2E"/>
                </a:solidFill>
                <a:latin typeface="Calibri"/>
              </a:rPr>
              <a:t>Winsorised at 1st and 99th percentile to limit outlier influence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432560" cy="2267712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4041648"/>
            <a:ext cx="1176528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8924A"/>
                </a:solidFill>
                <a:latin typeface="Cambria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2679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1d and 7d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4864608"/>
            <a:ext cx="1139951" cy="0"/>
          </a:xfrm>
          <a:prstGeom prst="line">
            <a:avLst/>
          </a:prstGeom>
          <a:ln w="10160">
            <a:solidFill>
              <a:srgbClr val="446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4937760"/>
            <a:ext cx="123139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3C8"/>
                </a:solidFill>
                <a:latin typeface="Calibri"/>
              </a:rPr>
              <a:t>Price, returns, volatility, momentum, cross-asset, HMM regimes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080" y="3931920"/>
            <a:ext cx="1432560" cy="2267712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10384" y="4041648"/>
            <a:ext cx="1176528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A6B"/>
                </a:solidFill>
                <a:latin typeface="Cambria"/>
              </a:rPr>
              <a:t>+13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5520" y="4572000"/>
            <a:ext cx="12679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6B"/>
                </a:solidFill>
                <a:latin typeface="Calibri"/>
              </a:rPr>
              <a:t>90d adds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10384" y="4864608"/>
            <a:ext cx="1139952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73808" y="4937760"/>
            <a:ext cx="123139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BA6"/>
                </a:solidFill>
                <a:latin typeface="Calibri"/>
              </a:rPr>
              <a:t>Inventory, CFTC positioning, policy uncertainty, futures curve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8080" y="3931920"/>
            <a:ext cx="1432560" cy="2267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34384" y="4041648"/>
            <a:ext cx="1176528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3A6B"/>
                </a:solidFill>
                <a:latin typeface="Cambria"/>
              </a:rPr>
              <a:t>+8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9519" y="4572000"/>
            <a:ext cx="126796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6B"/>
                </a:solidFill>
                <a:latin typeface="Calibri"/>
              </a:rPr>
              <a:t>180d adds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34384" y="4864608"/>
            <a:ext cx="1139952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97808" y="4937760"/>
            <a:ext cx="123139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BA6"/>
                </a:solidFill>
                <a:latin typeface="Calibri"/>
              </a:rPr>
              <a:t>Slow macro, GDP, Fed funds, long moving averages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22392" y="1755648"/>
            <a:ext cx="6174943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11_full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1810512"/>
            <a:ext cx="6083503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Exogenous Data Sources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Eight categories beyond price, each with a methodological rationale; collected with fallback sources for build reliability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11002975" cy="4264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Representative series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is included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Cross-asset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Equity index, Brent, natural gas, gold, USD index, 10-year yield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Risk-on / risk-off co-movement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Market VIX, oil-specific volatility index (OVX)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Oil volatility adds incremental predictive power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Futures structure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Front and deferred contract prices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Contango / backwardation reflect storage conditions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Macroeconomic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Industrial production, CPI, GDP, policy rate, yield spread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Structural demand drivers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Supply and inventory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Cushing stocks, national crude stocks, rig count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Near-term supply and demand pressure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Cartel production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OPEC member-country production volumes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Dominant structural supply driver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Policy uncertainty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Economic policy uncertainty index, geopolitical risk index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Policy shocks transmit rapidly to the market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Positioning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CFTC managed-money long, short, open interest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Positioning leads price moves over subsequent weeks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71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Public attention and text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Google Trends oil-related terms; news tone and entity sentiment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Demand nowcast and directional signal from media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760720"/>
            <a:ext cx="11002975" cy="420624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5760720"/>
            <a:ext cx="10600639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More than 100 features across roughly 15 categories; horizon-specific panels of 48, 61 and 69 features at 1d/7d, 90d and 180d respectively, all fitted on training data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Four Market Regimes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A 4-state Gaussian HMM labels every trading day; crisis days receive 3x sample weight in training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79610"/>
              </p:ext>
            </p:extLst>
          </p:nvPr>
        </p:nvGraphicFramePr>
        <p:xfrm>
          <a:off x="604323" y="1737359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4279392"/>
            <a:ext cx="3840480" cy="530352"/>
          </a:xfrm>
          <a:prstGeom prst="roundRect">
            <a:avLst/>
          </a:prstGeom>
          <a:solidFill>
            <a:srgbClr val="9FB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4279392"/>
            <a:ext cx="1152144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Calm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9384" y="4279392"/>
            <a:ext cx="14813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3,117 days (30.7%)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4279392"/>
            <a:ext cx="9144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Cambria"/>
              </a:rPr>
              <a:t>7d MAE $2.18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01183"/>
            <a:ext cx="3840480" cy="530352"/>
          </a:xfrm>
          <a:prstGeom prst="roundRect">
            <a:avLst/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4901183"/>
            <a:ext cx="1152144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9384" y="4901183"/>
            <a:ext cx="14813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2,790 days (27.5%)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4901183"/>
            <a:ext cx="9144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7d MAE $2.49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522975"/>
            <a:ext cx="3840480" cy="530352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5522975"/>
            <a:ext cx="1152144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9384" y="5522975"/>
            <a:ext cx="14813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3,227 days (31.8%)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5522975"/>
            <a:ext cx="9144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7d MAE $3.13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144768"/>
            <a:ext cx="3840480" cy="530352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6144768"/>
            <a:ext cx="1152144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Crisis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9384" y="6144768"/>
            <a:ext cx="14813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1,024 days (10.1%)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6144768"/>
            <a:ext cx="9144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7d MAE $5.88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82312" y="1755648"/>
            <a:ext cx="681502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10_regime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810512"/>
            <a:ext cx="6723583" cy="327355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782312" y="5266944"/>
            <a:ext cx="6815023" cy="1408176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5358383"/>
            <a:ext cx="6449263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Observed during crisis periods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5632704"/>
            <a:ext cx="6449263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0E5C8"/>
                </a:solidFill>
                <a:latin typeface="Calibri"/>
              </a:rPr>
              <a:t>Crisis days are only 10% of the sample but drive the majority of total loss: 7d error of $5.88 is more than double the calm-regime figure, and the 180d crisis error of $20.25 is the largest in the regime table. The calibrated interval is the most valuable output here, widening correctly even when the point forecast is poor.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Expanding Walk-Forward Protocol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Every forecast uses only data available at the forecast origin, with no lookahead at any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82495"/>
            <a:ext cx="11002975" cy="512064"/>
          </a:xfrm>
          <a:prstGeom prst="roundRect">
            <a:avLst/>
          </a:prstGeom>
          <a:solidFill>
            <a:srgbClr val="EB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755648"/>
            <a:ext cx="5776561" cy="420624"/>
          </a:xfrm>
          <a:prstGeom prst="roundRect">
            <a:avLst/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89209" y="1755648"/>
            <a:ext cx="788647" cy="420624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Fold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361" y="1783080"/>
            <a:ext cx="64234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47"/>
                </a:solidFill>
                <a:latin typeface="Calibri"/>
              </a:rPr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04288"/>
            <a:ext cx="6601785" cy="420624"/>
          </a:xfrm>
          <a:prstGeom prst="roundRect">
            <a:avLst/>
          </a:prstGeom>
          <a:solidFill>
            <a:srgbClr val="2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14433" y="2304288"/>
            <a:ext cx="1338795" cy="420624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Fold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585" y="2331720"/>
            <a:ext cx="119249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47"/>
                </a:solidFill>
                <a:latin typeface="Calibri"/>
              </a:rPr>
              <a:t>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52928"/>
            <a:ext cx="7977157" cy="420624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89805" y="2852928"/>
            <a:ext cx="1338795" cy="420624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Fold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2957" y="2880360"/>
            <a:ext cx="119249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47"/>
                </a:solidFill>
                <a:latin typeface="Calibri"/>
              </a:rPr>
              <a:t>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01568"/>
            <a:ext cx="9352528" cy="420624"/>
          </a:xfrm>
          <a:prstGeom prst="roundRect">
            <a:avLst/>
          </a:prstGeom>
          <a:solidFill>
            <a:srgbClr val="0F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65176" y="3401568"/>
            <a:ext cx="1613870" cy="420624"/>
          </a:xfrm>
          <a:prstGeom prst="round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428999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Fold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8328" y="3428999"/>
            <a:ext cx="146756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47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23360"/>
            <a:ext cx="5486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BA6"/>
                </a:solidFill>
                <a:latin typeface="Calibri"/>
              </a:rPr>
              <a:t>1986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5709" y="4023360"/>
            <a:ext cx="5486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BA6"/>
                </a:solidFill>
                <a:latin typeface="Calibri"/>
              </a:rPr>
              <a:t>1995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601" y="4023360"/>
            <a:ext cx="5486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BA6"/>
                </a:solidFill>
                <a:latin typeface="Calibri"/>
              </a:rPr>
              <a:t>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7197" y="4023360"/>
            <a:ext cx="5486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BA6"/>
                </a:solidFill>
                <a:latin typeface="Calibri"/>
              </a:rPr>
              <a:t>2015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015" y="4023360"/>
            <a:ext cx="5486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BA6"/>
                </a:solidFill>
                <a:latin typeface="Calibri"/>
              </a:rPr>
              <a:t>2026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45996" y="1664207"/>
            <a:ext cx="0" cy="2340865"/>
          </a:xfrm>
          <a:prstGeom prst="line">
            <a:avLst/>
          </a:prstGeom>
          <a:ln w="15240">
            <a:solidFill>
              <a:srgbClr val="A68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80236" y="4315968"/>
            <a:ext cx="731520" cy="23774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6824A"/>
                </a:solidFill>
                <a:latin typeface="Calibri"/>
              </a:rPr>
              <a:t>GFC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96442" y="1664207"/>
            <a:ext cx="0" cy="2340865"/>
          </a:xfrm>
          <a:prstGeom prst="line">
            <a:avLst/>
          </a:prstGeom>
          <a:ln w="15240">
            <a:solidFill>
              <a:srgbClr val="A68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30682" y="4315968"/>
            <a:ext cx="731520" cy="23774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6824A"/>
                </a:solidFill>
                <a:latin typeface="Calibri"/>
              </a:rPr>
              <a:t>OPEC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46888" y="1664207"/>
            <a:ext cx="0" cy="2340865"/>
          </a:xfrm>
          <a:prstGeom prst="line">
            <a:avLst/>
          </a:prstGeom>
          <a:ln w="15240">
            <a:solidFill>
              <a:srgbClr val="A68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581128" y="4315968"/>
            <a:ext cx="731520" cy="23774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6824A"/>
                </a:solidFill>
                <a:latin typeface="Calibri"/>
              </a:rPr>
              <a:t>COVID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700016"/>
            <a:ext cx="3496970" cy="138988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828032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Cambria"/>
              </a:rPr>
              <a:t>No lookahead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12080"/>
            <a:ext cx="3167786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Decomposition refitted inside each fold, never on the full series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19346" y="4700016"/>
            <a:ext cx="3496970" cy="138988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02226" y="4828032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924A"/>
                </a:solidFill>
                <a:latin typeface="Cambria"/>
              </a:rPr>
              <a:t>All crises covered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2226" y="5212080"/>
            <a:ext cx="3167786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GFC, OPEC glut, COVID, 2022 all fall strictly out of sample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44332" y="4700016"/>
            <a:ext cx="3496970" cy="138988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27212" y="4828032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Cambria"/>
              </a:rPr>
              <a:t>1,000+ origins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7212" y="5212080"/>
            <a:ext cx="3167786" cy="7863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Per horizon; every origin evaluated with a fresh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Two Evaluation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Complementary views of the forecasting problem, not directly comparable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5291175" cy="4169663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6159" y="1755648"/>
            <a:ext cx="5291175" cy="4169663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48888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Track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76272"/>
            <a:ext cx="4888839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Direct Walk-Forward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670048"/>
            <a:ext cx="4888839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No lookahead at any step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11 neural architectures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VMD re-fitted inside each fold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Represents operational forecasting conditions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All out-of-sample accuracy claims derive from Track 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" y="4956048"/>
            <a:ext cx="4797399" cy="0"/>
          </a:xfrm>
          <a:prstGeom prst="line">
            <a:avLst/>
          </a:prstGeom>
          <a:ln w="10160">
            <a:solidFill>
              <a:srgbClr val="446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" y="5047488"/>
            <a:ext cx="4888839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Best 7d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5303520"/>
            <a:ext cx="4888839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924A"/>
                </a:solidFill>
                <a:latin typeface="Cambria"/>
              </a:rPr>
              <a:t>$2.39  /bbl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903" y="1901952"/>
            <a:ext cx="4888839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824A"/>
                </a:solidFill>
                <a:latin typeface="Calibri"/>
              </a:rPr>
              <a:t>Track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903" y="2176272"/>
            <a:ext cx="4888839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2E"/>
                </a:solidFill>
                <a:latin typeface="Cambria"/>
              </a:rPr>
              <a:t>Decomposition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903" y="2670048"/>
            <a:ext cx="4888839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Follows published Yu and Huang protocols exactly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VMD/EMD applied to the full series before split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15 architectures across 2 decomposition protocols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Purpose: compare against published benchmarks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Not used for out-of-sample claims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43903" y="4956048"/>
            <a:ext cx="4797400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43903" y="5047488"/>
            <a:ext cx="4888839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824A"/>
                </a:solidFill>
                <a:latin typeface="Calibri"/>
              </a:rPr>
              <a:t>Best 7d MAE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5303520"/>
            <a:ext cx="4888839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A6824A"/>
                </a:solidFill>
                <a:latin typeface="Cambria"/>
              </a:rPr>
              <a:t>$1.25  /bbl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053327"/>
            <a:ext cx="11002975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6089903"/>
            <a:ext cx="10600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3A6B"/>
                </a:solidFill>
                <a:latin typeface="Calibri"/>
              </a:rPr>
              <a:t>Benchmark inflation quantified: </a:t>
            </a:r>
            <a:r>
              <a:rPr sz="1250">
                <a:solidFill>
                  <a:srgbClr val="1A1A2E"/>
                </a:solidFill>
                <a:latin typeface="Calibri"/>
              </a:rPr>
              <a:t>the gap between tracks at each horizon measures how much of the published accuracy depends on the decomposition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MODEL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17 Architectures Compared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All trained under identical pipeline, same feature set, same walk-forward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11002975" cy="896112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" y="1874519"/>
            <a:ext cx="1719072" cy="658368"/>
          </a:xfrm>
          <a:prstGeom prst="roundRect">
            <a:avLst>
              <a:gd name="adj" fmla="val 6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874519"/>
            <a:ext cx="171907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1837943"/>
            <a:ext cx="603504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924A"/>
                </a:solidFill>
                <a:latin typeface="Calibri"/>
              </a:rPr>
              <a:t>PatchTST  |  Informer  |  iTransformer  |  Autoformer  |  FEDformer  |  TFT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9368" y="1920240"/>
            <a:ext cx="0" cy="566928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23960" y="1837943"/>
            <a:ext cx="2645359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Long-range attention with varied tokenisation; generally strongest at 7-day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11002975" cy="896112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4088" y="2862072"/>
            <a:ext cx="1719072" cy="658368"/>
          </a:xfrm>
          <a:prstGeom prst="roundRect">
            <a:avLst>
              <a:gd name="adj" fmla="val 6000"/>
            </a:avLst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862072"/>
            <a:ext cx="171907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MLP and 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2825496"/>
            <a:ext cx="603504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824A"/>
                </a:solidFill>
                <a:latin typeface="Calibri"/>
              </a:rPr>
              <a:t>TimeMixer  |  N-HiTS  |  TiDE  |  SegRNN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9368" y="2907792"/>
            <a:ext cx="0" cy="566928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960" y="2825496"/>
            <a:ext cx="2645359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Hierarchical or multi-scale decomposition; effective when temporal structure is smooth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30752"/>
            <a:ext cx="11002975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4088" y="3849624"/>
            <a:ext cx="1719072" cy="658368"/>
          </a:xfrm>
          <a:prstGeom prst="roundRect">
            <a:avLst>
              <a:gd name="adj" fmla="val 6000"/>
            </a:avLst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849624"/>
            <a:ext cx="171907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Conv / Recurrent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3813048"/>
            <a:ext cx="603504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TCN  |  TCN-BiLSTM  |  CNN-BiLSTM-Attn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59368" y="3895344"/>
            <a:ext cx="0" cy="566928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23960" y="3813048"/>
            <a:ext cx="2645359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Local convolutional filters with sequential memory; best directional accuracy at 7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18304"/>
            <a:ext cx="11002975" cy="896112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04088" y="4837176"/>
            <a:ext cx="1719072" cy="658368"/>
          </a:xfrm>
          <a:prstGeom prst="roundRect">
            <a:avLst>
              <a:gd name="adj" fmla="val 6000"/>
            </a:avLst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837176"/>
            <a:ext cx="171907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Linear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4800600"/>
            <a:ext cx="603504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824A"/>
                </a:solidFill>
                <a:latin typeface="Calibri"/>
              </a:rPr>
              <a:t>DLinear  |  NLinear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9368" y="4882896"/>
            <a:ext cx="0" cy="566928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23960" y="4800600"/>
            <a:ext cx="2645359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Lightweight linear projections; strongest on decomposed components at 90d and 180d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705856"/>
            <a:ext cx="11002975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4088" y="5824728"/>
            <a:ext cx="1719072" cy="658368"/>
          </a:xfrm>
          <a:prstGeom prst="roundRect">
            <a:avLst>
              <a:gd name="adj" fmla="val 6000"/>
            </a:avLst>
          </a:prstGeom>
          <a:solidFill>
            <a:srgbClr val="446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5824728"/>
            <a:ext cx="171907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Foundation (zero-shot)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7752" y="5788152"/>
            <a:ext cx="603504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A7DC9"/>
                </a:solidFill>
                <a:latin typeface="Calibri"/>
              </a:rPr>
              <a:t>Chronos (Amazon)  |  TimesFM (Google)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59368" y="5870448"/>
            <a:ext cx="0" cy="566928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823960" y="5788152"/>
            <a:ext cx="2645359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Pre-trained on large corpora; evaluated zero-shot with no task-specific fine-tuning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MODEL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Model Comparison Across Both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Top performers by 7-day error within each track and protocol; full leaderboard of 30+ models in the appendix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10892944" cy="4283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0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7d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90d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180d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A6B"/>
                          </a:solidFill>
                          <a:latin typeface="Calibri"/>
                        </a:rPr>
                        <a:t>Track B — direct walk-forward</a:t>
                      </a:r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D6E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2E"/>
                          </a:solidFill>
                          <a:latin typeface="Calibri"/>
                        </a:rPr>
                        <a:t>Informer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A7DC9"/>
                          </a:solidFill>
                          <a:latin typeface="Calibri"/>
                        </a:rPr>
                        <a:t>$2.39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$13.32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$16.93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A7DC9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2E"/>
                          </a:solidFill>
                          <a:latin typeface="Calibri"/>
                        </a:rPr>
                        <a:t>TCN-BiLSTM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$2.43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$12.75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$16.90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A7DC9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A6824A"/>
                          </a:solidFill>
                          <a:latin typeface="Calibri"/>
                        </a:rPr>
                        <a:t>Track A — Huang decomposition</a:t>
                      </a:r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2E"/>
                          </a:solidFill>
                          <a:latin typeface="Calibri"/>
                        </a:rPr>
                        <a:t>NLinear head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8924A"/>
                          </a:solidFill>
                          <a:latin typeface="Calibri"/>
                        </a:rPr>
                        <a:t>$0.81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8924A"/>
                          </a:solidFill>
                          <a:latin typeface="Calibri"/>
                        </a:rPr>
                        <a:t>$1.25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$6.22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$13.15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824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2E"/>
                          </a:solidFill>
                          <a:latin typeface="Calibri"/>
                        </a:rPr>
                        <a:t>DLinear head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$1.00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$1.44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8924A"/>
                          </a:solidFill>
                          <a:latin typeface="Calibri"/>
                        </a:rPr>
                        <a:t>$5.23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8924A"/>
                          </a:solidFill>
                          <a:latin typeface="Calibri"/>
                        </a:rPr>
                        <a:t>$11.94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824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A6824A"/>
                          </a:solidFill>
                          <a:latin typeface="Calibri"/>
                        </a:rPr>
                        <a:t>Track A — Yu decomposition</a:t>
                      </a:r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2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2E"/>
                          </a:solidFill>
                          <a:latin typeface="Calibri"/>
                        </a:rPr>
                        <a:t>NLinear head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8924A"/>
                          </a:solidFill>
                          <a:latin typeface="Calibri"/>
                        </a:rPr>
                        <a:t>$0.69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$1.77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$12.22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Calibri"/>
                        </a:rPr>
                        <a:t>$16.88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6824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A8BA6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Naive baseline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$3.21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$12.37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$16.78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6035040"/>
            <a:ext cx="11002975" cy="45720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6035040"/>
            <a:ext cx="106006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Track A reaches lower error at every horizon by forecasting smooth decomposed components; Track B is the strict origin-by-origin test underlying every operational claim in this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Headline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All figures in US$/barrel, mean absolute error. Track B is the operational benchmark.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751636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Naive MAE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Track A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 Naive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Track B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 Naive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$0.69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-43%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8BA6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$3.21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$1.25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-61%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7DC9"/>
                          </a:solidFill>
                          <a:latin typeface="Calibri"/>
                        </a:rPr>
                        <a:t>$2.39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7DC9"/>
                          </a:solidFill>
                          <a:latin typeface="Calibri"/>
                        </a:rPr>
                        <a:t>-26%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$12.37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$5.23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-58%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$12.56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8BA6"/>
                          </a:solidFill>
                          <a:latin typeface="Calibri"/>
                        </a:rPr>
                        <a:t>-2%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180 days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$16.78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$11.59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8924A"/>
                          </a:solidFill>
                          <a:latin typeface="Calibri"/>
                        </a:rPr>
                        <a:t>-31%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7DC9"/>
                          </a:solidFill>
                          <a:latin typeface="Calibri"/>
                        </a:rPr>
                        <a:t>$15.62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A7DC9"/>
                          </a:solidFill>
                          <a:latin typeface="Calibri"/>
                        </a:rPr>
                        <a:t>-7%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138928"/>
            <a:ext cx="75163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Gold = Track A (decomposition). Blue = Track B (strict walk-forward).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6488" y="1755648"/>
            <a:ext cx="3120847" cy="3986784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95944" y="1975104"/>
            <a:ext cx="2755087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924A"/>
                </a:solidFill>
                <a:latin typeface="Cambria"/>
              </a:rPr>
              <a:t>$0.69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560320"/>
            <a:ext cx="2755087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Best 1d Track A ($/bbl)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95944" y="3017520"/>
            <a:ext cx="2645359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95944" y="3108960"/>
            <a:ext cx="2755087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0.26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4" y="3694176"/>
            <a:ext cx="2755087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Informer skill score, 7d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95944" y="4151376"/>
            <a:ext cx="2645359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95944" y="4242816"/>
            <a:ext cx="2755087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7DC9"/>
                </a:solidFill>
                <a:latin typeface="Cambria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4828032"/>
            <a:ext cx="2755087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Directional accuracy, TCN-BiLSTM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DIRECT WALK-FORWARD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Track B: Walk-Forward Performance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Verified skill at the 7-day horizon. At 1 day, convergence to naive is the honest finding.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6949440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per_horizon_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6858000" cy="41330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91272" y="1755648"/>
            <a:ext cx="3706063" cy="4242816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847088"/>
            <a:ext cx="3358591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A6B"/>
                </a:solidFill>
                <a:latin typeface="Calibri"/>
              </a:rPr>
              <a:t>7-DAY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76272"/>
            <a:ext cx="3358591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8924A"/>
                </a:solidFill>
                <a:latin typeface="Cambria"/>
              </a:rPr>
              <a:t>$2.39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706624"/>
            <a:ext cx="335859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Informer MAE ($/bbl)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145536"/>
            <a:ext cx="3267151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3236976"/>
            <a:ext cx="3358591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3A6B"/>
                </a:solidFill>
                <a:latin typeface="Cambria"/>
              </a:rPr>
              <a:t>0.26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67328"/>
            <a:ext cx="335859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Skill over naive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2440" y="4206240"/>
            <a:ext cx="3267151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92440" y="4297679"/>
            <a:ext cx="3358591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A7DC9"/>
                </a:solidFill>
                <a:latin typeface="Cambria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28031"/>
            <a:ext cx="335859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Directional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358383"/>
            <a:ext cx="3358591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At 1 day: all models converge to naive ($1.22). Near-random-walk horizon; no improvement claimed.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EXTERNAL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Track A vs Published Benchmarks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Decomposition protocol matches source papers exactly; these figures are directly comparable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55648"/>
          <a:ext cx="691286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1d MAE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7d MAE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90d MAE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180d MAE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NLinear + Huang (this work)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$0.81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$1.25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$6.22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$13.15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DLinear + Huang (this work)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$1.00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$1.44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$5.23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$11.94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NLinear + Yu (this work)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$0.69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$1.77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$12.22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$16.88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Published Yu et al. 2025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$2.04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Published Huang et al. 2024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$2.25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8BA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Naive baseline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$1.22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$3.21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$12.37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$16.78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358384"/>
            <a:ext cx="6912864" cy="512064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5358384"/>
            <a:ext cx="6510527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$5.23/bbl at 90 days, skill 0.58 over naive. Note: published benchmarks use a single split; this work uses expanding walk-forward.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2983" y="1755648"/>
            <a:ext cx="3724351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4_skill_score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810512"/>
            <a:ext cx="3632911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ARCHITECTURE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Linear Models Beat Transformers at Long Horizons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On decomposed components, complexity does not help; regime and horizon determine which architecture class wins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4754880" cy="4443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4663440" cy="4334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15000" y="1755648"/>
            <a:ext cx="5882335" cy="2139696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34456" y="1847088"/>
            <a:ext cx="5516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Track A  90d MAE ($/bbl)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6" y="2139696"/>
            <a:ext cx="5516575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0E5C8"/>
                </a:solidFill>
                <a:latin typeface="Cambria"/>
              </a:rPr>
              <a:t>$5.23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670048"/>
            <a:ext cx="551657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3C8"/>
                </a:solidFill>
                <a:latin typeface="Calibri"/>
              </a:rPr>
              <a:t>DLinear head (best Track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980944"/>
            <a:ext cx="55165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FB3C8"/>
                </a:solidFill>
                <a:latin typeface="Cambria"/>
              </a:rPr>
              <a:t>$12.56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6" y="3474720"/>
            <a:ext cx="551657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3C8"/>
                </a:solidFill>
                <a:latin typeface="Calibri"/>
              </a:rPr>
              <a:t>TFT, best transformer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4023359"/>
            <a:ext cx="5882335" cy="2176272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4114799"/>
            <a:ext cx="553486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Why linear wins on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4443983"/>
            <a:ext cx="5662879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Decomposition extracts smooth trend and cycle components; a linear map handles them as well as a deep network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B8924A"/>
                </a:solidFill>
                <a:latin typeface="Calibri"/>
              </a:rPr>
              <a:t>▪  </a:t>
            </a:r>
            <a:r>
              <a:rPr sz="1200">
                <a:solidFill>
                  <a:srgbClr val="1A1A2E"/>
                </a:solidFill>
                <a:latin typeface="Calibri"/>
              </a:rPr>
              <a:t>At 7 days, transformers lead ($2.39 Informer); temporal patterns in the raw feature panel reward attention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UNCERTAINTY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Calibrated Prediction Intervals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Every point forecast carries a distribution-free 80% interval and a tail-risk estimate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6766560" cy="4334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5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6675120" cy="42245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08392" y="1755648"/>
            <a:ext cx="3888943" cy="4334256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847088"/>
            <a:ext cx="3541471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6B"/>
                </a:solidFill>
                <a:latin typeface="Calibri"/>
              </a:rPr>
              <a:t>TFT, 90d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57984"/>
            <a:ext cx="3541471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Cambria"/>
              </a:rPr>
              <a:t>0.1314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688336"/>
            <a:ext cx="354147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CRPS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3072384"/>
            <a:ext cx="3450031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3200400"/>
            <a:ext cx="3541471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Cambria"/>
              </a:rPr>
              <a:t>$41.18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730752"/>
            <a:ext cx="354147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80% interval width ($/bbl)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4114800"/>
            <a:ext cx="3450031" cy="0"/>
          </a:xfrm>
          <a:prstGeom prst="line">
            <a:avLst/>
          </a:prstGeom>
          <a:ln w="10160">
            <a:solidFill>
              <a:srgbClr val="D6C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4242816"/>
            <a:ext cx="3541471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Cambria"/>
              </a:rPr>
              <a:t>0.0146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773168"/>
            <a:ext cx="354147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BA6"/>
                </a:solidFill>
                <a:latin typeface="Calibri"/>
              </a:rPr>
              <a:t>Reliability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376672"/>
            <a:ext cx="3541471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BA6"/>
                </a:solidFill>
                <a:latin typeface="Calibri"/>
              </a:rPr>
              <a:t>At 1d and 7d: prediction spread near-degenerate; reported transparently.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TAIL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Extreme Value Theory: Tail Risk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180-day 99th-percentile exposure of $91.95/bbl, directly relevant to fiscal stress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5669280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8_evt_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5577840" cy="30540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5047488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7"/>
            <a:ext cx="535838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6B"/>
                </a:solidFill>
                <a:latin typeface="Calibri"/>
              </a:rPr>
              <a:t>Operational significance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13248"/>
            <a:ext cx="5358384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1A1A2E"/>
                </a:solidFill>
                <a:latin typeface="Calibri"/>
              </a:rPr>
              <a:t>1d </a:t>
            </a:r>
            <a:r>
              <a:rPr sz="1000" b="0" i="0" dirty="0" err="1">
                <a:solidFill>
                  <a:srgbClr val="1A1A2E"/>
                </a:solidFill>
                <a:latin typeface="Calibri"/>
              </a:rPr>
              <a:t>VaR</a:t>
            </a:r>
            <a:r>
              <a:rPr lang="en-IN" sz="10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1A1A2E"/>
                </a:solidFill>
                <a:latin typeface="Calibri"/>
              </a:rPr>
              <a:t>99 of $6.05 sets the exchange margin buffer for crude futures. 180d VaR99 of $75.29 quantifies the worst-case procurement overrun for a 6-month buyer, informing hedge and reserve sizing.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11112" y="1755648"/>
          <a:ext cx="49862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7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GPD xi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 95%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 95%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 99%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 99%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7DC9"/>
                          </a:solidFill>
                          <a:latin typeface="Calibri"/>
                        </a:rPr>
                        <a:t>+0.278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$3.40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$5.21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$6.05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$8.87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7 days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7DC9"/>
                          </a:solidFill>
                          <a:latin typeface="Calibri"/>
                        </a:rPr>
                        <a:t>+0.257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$7.66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$11.40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$13.20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$18.84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90 days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8924A"/>
                          </a:solidFill>
                          <a:latin typeface="Calibri"/>
                        </a:rPr>
                        <a:t>-0.516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$43.90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$56.94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$65.51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$71.20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180 days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8924A"/>
                          </a:solidFill>
                          <a:latin typeface="Calibri"/>
                        </a:rPr>
                        <a:t>-0.052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$45.84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$63.97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$75.29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8924A"/>
                          </a:solidFill>
                          <a:latin typeface="Calibri"/>
                        </a:rPr>
                        <a:t>$91.95</a:t>
                      </a:r>
                    </a:p>
                  </a:txBody>
                  <a:tcPr marL="101600" marR="101600" marT="50800" marB="50800" anchor="ctr">
                    <a:solidFill>
                      <a:srgbClr val="F0E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11112" y="4114800"/>
            <a:ext cx="4986223" cy="1920239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4206240"/>
            <a:ext cx="4638751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GARCH-EVT dynamic 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498848"/>
            <a:ext cx="4766767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B8924A"/>
                </a:solidFill>
                <a:latin typeface="Calibri"/>
              </a:rPr>
              <a:t>▪  </a:t>
            </a:r>
            <a:r>
              <a:rPr sz="1100">
                <a:solidFill>
                  <a:srgbClr val="F0E5C8"/>
                </a:solidFill>
                <a:latin typeface="Calibri"/>
              </a:rPr>
              <a:t>Positive xi at short horizons: heavy tail; extreme daily moves are fat-tailed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B8924A"/>
                </a:solidFill>
                <a:latin typeface="Calibri"/>
              </a:rPr>
              <a:t>▪  </a:t>
            </a:r>
            <a:r>
              <a:rPr sz="1100">
                <a:solidFill>
                  <a:srgbClr val="F0E5C8"/>
                </a:solidFill>
                <a:latin typeface="Calibri"/>
              </a:rPr>
              <a:t>Negative xi at long horizons: bounded tail; price mean-reverts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B8924A"/>
                </a:solidFill>
                <a:latin typeface="Calibri"/>
              </a:rPr>
              <a:t>▪  </a:t>
            </a:r>
            <a:r>
              <a:rPr sz="1100">
                <a:solidFill>
                  <a:srgbClr val="F0E5C8"/>
                </a:solidFill>
                <a:latin typeface="Calibri"/>
              </a:rPr>
              <a:t>Dynamic VaR widens during crises; passes Kupiec coverage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REGIME AND CRISIS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Forecast Error by Market Regime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Error concentrates in Stressed and Crisis regimes; 10% of days, majority of total 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5852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_regim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5760720" cy="3547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93992" y="1755648"/>
            <a:ext cx="4803343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9_crisis_episode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1810512"/>
            <a:ext cx="4711903" cy="20482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93992" y="4041647"/>
            <a:ext cx="4803343" cy="137160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4114799"/>
            <a:ext cx="4492447" cy="12252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GFC 2008 is the hardest window: Informer 7d MAE $5.39, nearly double its full-period figure. No architecture is consistently dominant across all crisis episodes.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5577840"/>
          <a:ext cx="11002975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04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7d MAE by regime ($/bbl)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Calm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Stressed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Crisis</a:t>
                      </a:r>
                    </a:p>
                  </a:txBody>
                  <a:tcPr marL="101600" marR="1016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All models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$2.18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$2.49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$3.13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8924A"/>
                          </a:solidFill>
                          <a:latin typeface="Calibri"/>
                        </a:rPr>
                        <a:t>$5.88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STATISTICAL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Statistical Significance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Error reductions are claimed only where formally confirmed; no improvement is asserted without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6400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5_dm_tes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10512"/>
            <a:ext cx="6309360" cy="4005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42632" y="1755648"/>
            <a:ext cx="4254703" cy="129844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865376"/>
            <a:ext cx="3907231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Diebold-Mariano (HAC)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57984"/>
            <a:ext cx="3907231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At 7 days: Informer, TCN-BiLSTM and TCN significantly beat naive (p below 0.05). At 1 day: no model reaches significance.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2" y="3163824"/>
            <a:ext cx="4254703" cy="129844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3273552"/>
            <a:ext cx="3907231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924A"/>
                </a:solidFill>
                <a:latin typeface="Calibri"/>
              </a:rPr>
              <a:t>Pesaran-Timmermann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566160"/>
            <a:ext cx="3907231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TCN-BiLSTM 75% directional accuracy is significant at p below 0.05, versus 50% expected by chance.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2" y="4572000"/>
            <a:ext cx="4254703" cy="129844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4681728"/>
            <a:ext cx="3907231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Honest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974336"/>
            <a:ext cx="3907231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At the 1-day horizon, no improvement is claimed. Near-random-walk behaviour is the finding, not a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998464"/>
            <a:ext cx="11002975" cy="45720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5998464"/>
            <a:ext cx="106006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Three models significant at 7 days (Informer, TCN-BiLSTM, TCN; p below 0.05).  No model significant at 1 day.  75% directional accuracy significant under Pesaran-Timmermann.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Significance for Energy Markets and Policy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Four user communities, matched to the horizon where each output carries the most decision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11002975" cy="109728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865376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924A"/>
                </a:solidFill>
                <a:latin typeface="Cambria"/>
              </a:rPr>
              <a:t>Short-horizon trading and hedging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2212848"/>
            <a:ext cx="1371600" cy="292608"/>
          </a:xfrm>
          <a:prstGeom prst="roundRect">
            <a:avLst>
              <a:gd name="adj" fmla="val 6000"/>
            </a:avLst>
          </a:prstGeom>
          <a:solidFill>
            <a:srgbClr val="2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2212848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 day to 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65376"/>
            <a:ext cx="6705295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75% directional accuracy and a statistically verified error reduction let a refinery or airline time a hedge more precisely than a naive roll-forward rule. Informer's $2.39 MAE corresponds to a potential saving of roughly $2 to $3 per barrel on well-timed hedging.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44368"/>
            <a:ext cx="11002975" cy="109728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3054096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6B"/>
                </a:solidFill>
                <a:latin typeface="Cambria"/>
              </a:rPr>
              <a:t>Medium-horizon procurement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3401568"/>
            <a:ext cx="1371600" cy="292608"/>
          </a:xfrm>
          <a:prstGeom prst="roundRect">
            <a:avLst>
              <a:gd name="adj" fmla="val 6000"/>
            </a:avLst>
          </a:prstGeom>
          <a:solidFill>
            <a:srgbClr val="E0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" y="3401568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A6B"/>
                </a:solidFill>
                <a:latin typeface="Calibri"/>
              </a:rPr>
              <a:t>90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54096"/>
            <a:ext cx="6705295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The calibrated 80% interval (reliability near 0.04) is the primary value beyond the point forecast: a refinery planning a 3-month purchase can set financial reserve and hedge ratio directly from the predictive distribution rather than guessing at the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3087"/>
            <a:ext cx="11002975" cy="1097280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4242816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3A6B"/>
                </a:solidFill>
                <a:latin typeface="Cambria"/>
              </a:rPr>
              <a:t>Long-horizon strategic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" y="4590288"/>
            <a:ext cx="1371600" cy="292608"/>
          </a:xfrm>
          <a:prstGeom prst="roundRect">
            <a:avLst>
              <a:gd name="adj" fmla="val 6000"/>
            </a:avLst>
          </a:prstGeom>
          <a:solidFill>
            <a:srgbClr val="E0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4590288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3A6B"/>
                </a:solidFill>
                <a:latin typeface="Calibri"/>
              </a:rPr>
              <a:t>180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42816"/>
            <a:ext cx="6705295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VaR and Expected Shortfall quantify the worst-case move a risk-sensitive decision-maker must provision for. For importing nations these figures inform strategic reserve sizing, forward contract structure, and fiscal contingency budgeting; for exporters they bound the downside fiscal scenario.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21808"/>
            <a:ext cx="11002975" cy="109728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5431536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924A"/>
                </a:solidFill>
                <a:latin typeface="Cambria"/>
              </a:rPr>
              <a:t>Situational awareness from regime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" y="5779008"/>
            <a:ext cx="1371600" cy="292608"/>
          </a:xfrm>
          <a:prstGeom prst="roundRect">
            <a:avLst>
              <a:gd name="adj" fmla="val 6000"/>
            </a:avLst>
          </a:prstGeom>
          <a:solidFill>
            <a:srgbClr val="2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5779008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All horizons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431536"/>
            <a:ext cx="6705295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4-state HMM gives early warning independent of the point forecast. High crisis-state probability signals an adversarial environment for any model, calling for wider hedging buffers and reduced speculative positions rather than a specific price target.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924A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2975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Summary of Contributions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00297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688E"/>
                </a:solidFill>
                <a:latin typeface="Calibri"/>
              </a:rPr>
              <a:t>A rigorous, honest, and comprehensive forecasting framework for WTI crude oil at four horizons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11002975" cy="84124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55648"/>
            <a:ext cx="105457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924A"/>
                </a:solidFill>
                <a:latin typeface="Cambria"/>
              </a:rPr>
              <a:t>01  </a:t>
            </a:r>
            <a:r>
              <a:rPr sz="1250" b="1">
                <a:solidFill>
                  <a:srgbClr val="FFFFFF"/>
                </a:solidFill>
                <a:latin typeface="Calibri"/>
              </a:rPr>
              <a:t>Walk-forward framework. </a:t>
            </a:r>
            <a:r>
              <a:rPr sz="1250">
                <a:solidFill>
                  <a:srgbClr val="FFFFFF"/>
                </a:solidFill>
                <a:latin typeface="Calibri"/>
              </a:rPr>
              <a:t>All preprocessing in-sample, no lookahead at any step across 38 years of WTI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88336"/>
            <a:ext cx="11002975" cy="84124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688336"/>
            <a:ext cx="105457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mbria"/>
              </a:rPr>
              <a:t>02  </a:t>
            </a:r>
            <a:r>
              <a:rPr sz="1250" b="1">
                <a:solidFill>
                  <a:srgbClr val="1A1A2E"/>
                </a:solidFill>
                <a:latin typeface="Calibri"/>
              </a:rPr>
              <a:t>17 architectures, identical conditions. </a:t>
            </a:r>
            <a:r>
              <a:rPr sz="1250">
                <a:solidFill>
                  <a:srgbClr val="1A1A2E"/>
                </a:solidFill>
                <a:latin typeface="Calibri"/>
              </a:rPr>
              <a:t>$0.69 at 1d, $1.25 at 7d, $5.23 at 90d, $11.59 at 180d; all targets met by the best individual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21024"/>
            <a:ext cx="11002975" cy="84124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621024"/>
            <a:ext cx="105457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924A"/>
                </a:solidFill>
                <a:latin typeface="Cambria"/>
              </a:rPr>
              <a:t>03  </a:t>
            </a:r>
            <a:r>
              <a:rPr sz="1250" b="1">
                <a:solidFill>
                  <a:srgbClr val="FFFFFF"/>
                </a:solidFill>
                <a:latin typeface="Calibri"/>
              </a:rPr>
              <a:t>Verified 7-day skill. </a:t>
            </a:r>
            <a:r>
              <a:rPr sz="1250">
                <a:solidFill>
                  <a:srgbClr val="FFFFFF"/>
                </a:solidFill>
                <a:latin typeface="Calibri"/>
              </a:rPr>
              <a:t>Informer at $2.39/bbl, skill score 0.26; TCN-BiLSTM at 75% directional accuracy; both confirmed significant.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53712"/>
            <a:ext cx="11002975" cy="841248"/>
          </a:xfrm>
          <a:prstGeom prst="roundRect">
            <a:avLst>
              <a:gd name="adj" fmla="val 6000"/>
            </a:avLst>
          </a:prstGeom>
          <a:solidFill>
            <a:srgbClr val="F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4553712"/>
            <a:ext cx="1054577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mbria"/>
              </a:rPr>
              <a:t>04  </a:t>
            </a:r>
            <a:r>
              <a:rPr sz="1250" b="1">
                <a:solidFill>
                  <a:srgbClr val="1A1A2E"/>
                </a:solidFill>
                <a:latin typeface="Calibri"/>
              </a:rPr>
              <a:t>Calibrated uncertainty. </a:t>
            </a:r>
            <a:r>
              <a:rPr sz="1250">
                <a:solidFill>
                  <a:srgbClr val="1A1A2E"/>
                </a:solidFill>
                <a:latin typeface="Calibri"/>
              </a:rPr>
              <a:t>Distribution-free 80% intervals; TFT reliability 0.0146 at 90d; EVT tail-risk VaR99 from $6.05 (1d) to $75.29/bbl (180d).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86400"/>
            <a:ext cx="11002975" cy="841248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5486400"/>
            <a:ext cx="10545775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8924A"/>
                </a:solidFill>
                <a:latin typeface="Cambria"/>
              </a:rPr>
              <a:t>05  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Benchmark inflation quantified. </a:t>
            </a:r>
            <a:r>
              <a:rPr sz="1250" dirty="0">
                <a:solidFill>
                  <a:srgbClr val="FFFFFF"/>
                </a:solidFill>
                <a:latin typeface="Calibri"/>
              </a:rPr>
              <a:t>Reporting both tracks and their horizon-by-horizon difference shows how much published accuracy depends on the decomposition design</a:t>
            </a:r>
            <a:r>
              <a:rPr lang="en-IN" sz="1250" dirty="0">
                <a:solidFill>
                  <a:srgbClr val="FFFFFF"/>
                </a:solidFill>
                <a:latin typeface="Calibri"/>
              </a:rPr>
              <a:t> and how useful walk forward splits are in interpreting regime analysis</a:t>
            </a:r>
            <a:endParaRPr sz="125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48640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3A6B"/>
                </a:solidFill>
                <a:latin typeface="Cambria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1188720"/>
            <a:ext cx="11002975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55648"/>
            <a:ext cx="52911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[1] Yu et al. Forecasting Crude Oil Prices: Evidence from the WOA-VMD-FE-Transformer Model. Computational Economics, 66 (2025).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[2] Huang et al. Crude Oil Futures Price Forecasting Based on VMD and EMD and Transformer Model. Mathematics, 12(24) (2024).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[3] Zhou et al. Informer: Beyond Efficient Transformer for Long Sequence Time-Series Forecasting. AAAI (2021).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[4] Nie et al. A Time Series is Worth 64 Words: Long-Term Forecasting with Transformers. ICLR (2023).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[5] Diebold and Mariano. Comparing Predictive Accuracy. JBES, 13(3) (1995).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6159" y="1755648"/>
            <a:ext cx="52911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[6] Pesaran and Timmermann. A Simple Nonparametric Test of Predictive Performance. JBES, 10(4) (1992).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[7] McNeil and Frey. Estimation of Tail-Related Risk Measures for Heteroscedastic Financial Time Series. J. of Empirical Finance, 7 (2000).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[8] Lei et al. Distribution-Free Predictive Inference for Regression. JASA, 113(523) (2018).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[9] Liu et al. iTransformer: Inverted Transformers Are Effective for Time Series Forecasting. ICLR (2024).</a:t>
            </a:r>
          </a:p>
          <a:p>
            <a:pPr>
              <a:spcAft>
                <a:spcPts val="1400"/>
              </a:spcAft>
            </a:pPr>
            <a:r>
              <a:rPr sz="1150">
                <a:solidFill>
                  <a:srgbClr val="1A1A2E"/>
                </a:solidFill>
                <a:latin typeface="Calibri"/>
              </a:rPr>
              <a:t>[10] Ansari et al. Chronos: Learning the Language of Time Series. TMLR (2024).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772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438339" y="3547872"/>
            <a:ext cx="7315017" cy="0"/>
          </a:xfrm>
          <a:prstGeom prst="line">
            <a:avLst/>
          </a:prstGeom>
          <a:ln w="17780">
            <a:solidFill>
              <a:srgbClr val="3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712463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0E5C8"/>
                </a:solidFill>
                <a:latin typeface="Calibri"/>
              </a:rPr>
              <a:t>Aayush M Anand  |  21D170001  |  IIT Bombay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96512"/>
            <a:ext cx="11277295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C8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547104"/>
            <a:ext cx="411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8BA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2795</Words>
  <Application>Microsoft Office PowerPoint</Application>
  <PresentationFormat>Widescreen</PresentationFormat>
  <Paragraphs>477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ANAND</cp:lastModifiedBy>
  <cp:revision>2</cp:revision>
  <dcterms:created xsi:type="dcterms:W3CDTF">2013-01-27T09:14:16Z</dcterms:created>
  <dcterms:modified xsi:type="dcterms:W3CDTF">2026-06-30T15:37:42Z</dcterms:modified>
  <cp:category/>
</cp:coreProperties>
</file>